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p="http://schemas.openxmlformats.org/presentationml/2006/main">
  <p:clrMru>
    <a:srgbClr val="B60007"/>
  </p:clrMru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>
    <p:restoredLeft sz="20031" autoAdjust="false"/>
    <p:restoredTop sz="94658"/>
  </p:normalViewPr>
  <p:slideViewPr>
    <p:cSldViewPr snapToGrid="false">
      <p:cViewPr varScale="true">
        <p:scale>
          <a:sx n="120" d="100"/>
          <a:sy n="120" d="100"/>
        </p:scale>
        <p:origin x="5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4" Type="http://schemas.openxmlformats.org/officeDocument/2006/relationships/slide" Target="slides/slide4.xml" /><Relationship Id="rId1" Type="http://schemas.openxmlformats.org/officeDocument/2006/relationships/slide" Target="slides/slide1.xml" /><Relationship Id="rId10" Type="http://schemas.openxmlformats.org/officeDocument/2006/relationships/tableStyles" Target="tableStyles.xml" /><Relationship Id="rId5" Type="http://schemas.openxmlformats.org/officeDocument/2006/relationships/slide" Target="slides/slide5.xml" /><Relationship Id="rId2" Type="http://schemas.openxmlformats.org/officeDocument/2006/relationships/slide" Target="slides/slide2.xml" /><Relationship Id="rId9" Type="http://schemas.openxmlformats.org/officeDocument/2006/relationships/presProps" Target="presProps.xml" /><Relationship Id="rId0" Type="http://schemas.openxmlformats.org/officeDocument/2006/relationships/slideMaster" Target="slideMasters/slideMaster1.xml" /><Relationship Id="rId3" Type="http://schemas.openxmlformats.org/officeDocument/2006/relationships/slide" Target="slides/slide3.xml" /><Relationship Id="rId11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secHead">
  <p:cSld name="Section Header">
    <p:bg>
      <p:bgPr>
        <a:blipFill dpi="0" rotWithShape="true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 hasCustomPrompt="tru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800" b="true">
                <a:solidFill>
                  <a:srgbClr val="B60007"/>
                </a:solidFill>
              </a:defRPr>
            </a:lvl1pPr>
          </a:lstStyle>
          <a:p>
            <a:pPr/>
            <a:r>
              <a:rPr lang="en-US" dirty="false"/>
              <a:t>Presentation Title</a:t>
            </a:r>
            <a:endParaRPr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false"/>
              <a:t>Click to edit Master text styles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itle">
  <p:cSld name="Title Slide">
    <p:bg>
      <p:bgPr>
        <a:blipFill dpi="0" rotWithShape="true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true"/>
          </p:cNvSpPr>
          <p:nvPr>
            <p:ph type="ctrTitle" hasCustomPrompt="tru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l">
              <a:defRPr sz="5400" b="true">
                <a:solidFill>
                  <a:srgbClr val="B60007"/>
                </a:solidFill>
              </a:defRPr>
            </a:lvl1pPr>
          </a:lstStyle>
          <a:p>
            <a:pPr/>
            <a:r>
              <a:rPr lang="en-US" dirty="false"/>
              <a:t>Presentation Title</a:t>
            </a:r>
            <a:endParaRPr/>
          </a:p>
        </p:txBody>
      </p:sp>
      <p:sp>
        <p:nvSpPr>
          <p:cNvPr id="6" name="Subtitle 2"/>
          <p:cNvSpPr>
            <a:spLocks noGrp="true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/>
            <a:r>
              <a:rPr lang="en-US" dirty="false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>
  <p:cSld name="Title and Content">
    <p:bg>
      <p:bgPr>
        <a:blipFill dpi="0" rotWithShape="true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8417312" cy="1325563"/>
          </a:xfrm>
        </p:spPr>
        <p:txBody>
          <a:bodyPr/>
          <a:lstStyle>
            <a:lvl1pPr>
              <a:defRPr b="true">
                <a:solidFill>
                  <a:srgbClr val="B60007"/>
                </a:solidFill>
              </a:defRPr>
            </a:lvl1pPr>
          </a:lstStyle>
          <a:p>
            <a:pPr/>
            <a:r>
              <a:rPr lang="en-US" dirty="false"/>
              <a:t>Click to edit Master title style</a:t>
            </a:r>
            <a:endParaRPr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>
  <p:cSld name="Two Content">
    <p:bg>
      <p:bgPr>
        <a:blipFill dpi="0" rotWithShape="true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true"/>
          </p:cNvSpPr>
          <p:nvPr>
            <p:ph type="title"/>
          </p:nvPr>
        </p:nvSpPr>
        <p:spPr>
          <a:xfrm>
            <a:off x="838201" y="365125"/>
            <a:ext cx="8406160" cy="1325563"/>
          </a:xfrm>
        </p:spPr>
        <p:txBody>
          <a:bodyPr/>
          <a:lstStyle>
            <a:lvl1pPr>
              <a:defRPr b="true">
                <a:solidFill>
                  <a:srgbClr val="B60007"/>
                </a:solidFill>
              </a:defRPr>
            </a:lvl1pPr>
          </a:lstStyle>
          <a:p>
            <a:pPr/>
            <a:r>
              <a:rPr lang="en-US" dirty="false"/>
              <a:t>Click to edit Master title style</a:t>
            </a:r>
            <a:endParaRPr/>
          </a:p>
        </p:txBody>
      </p:sp>
      <p:sp>
        <p:nvSpPr>
          <p:cNvPr id="12" name="Content Placeholder 2"/>
          <p:cNvSpPr>
            <a:spLocks noGrp="true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3"/>
          <p:cNvSpPr>
            <a:spLocks noGrp="true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>
  <p:cSld name="Blank">
    <p:bg>
      <p:bgPr>
        <a:blipFill dpi="0" rotWithShape="true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Tx">
  <p:cSld name="Content with Caption">
    <p:bg>
      <p:bgPr>
        <a:blipFill dpi="0" rotWithShape="true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/>
            <a:r>
              <a:rPr lang="en-US"/>
              <a:t>Click to edit Master title style</a:t>
            </a:r>
            <a:endParaRPr/>
          </a:p>
        </p:txBody>
      </p:sp>
      <p:sp>
        <p:nvSpPr>
          <p:cNvPr id="17" name="Content Placeholder 2"/>
          <p:cNvSpPr>
            <a:spLocks noGrp="true"/>
          </p:cNvSpPr>
          <p:nvPr>
            <p:ph idx="1"/>
          </p:nvPr>
        </p:nvSpPr>
        <p:spPr>
          <a:xfrm>
            <a:off x="5183188" y="2049462"/>
            <a:ext cx="6172200" cy="38115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8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picTx">
  <p:cSld name="Picture with Caption">
    <p:bg>
      <p:bgPr>
        <a:blipFill dpi="0" rotWithShape="true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/>
            <a:r>
              <a:rPr lang="en-US"/>
              <a:t>Click to edit Master title style</a:t>
            </a:r>
            <a:endParaRPr/>
          </a:p>
        </p:txBody>
      </p:sp>
      <p:sp>
        <p:nvSpPr>
          <p:cNvPr id="21" name="Picture Placeholder 2"/>
          <p:cNvSpPr>
            <a:spLocks noGrp="true"/>
          </p:cNvSpPr>
          <p:nvPr>
            <p:ph type="pic" idx="1"/>
          </p:nvPr>
        </p:nvSpPr>
        <p:spPr>
          <a:xfrm>
            <a:off x="5183188" y="2049462"/>
            <a:ext cx="6172200" cy="38115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22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>
  <p:cSld name="Custom Layout">
    <p:bg>
      <p:bgPr>
        <a:blipFill dpi="0" rotWithShape="true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true"/>
          </p:cNvSpPr>
          <p:nvPr>
            <p:ph type="title" hasCustomPrompt="true"/>
          </p:nvPr>
        </p:nvSpPr>
        <p:spPr>
          <a:xfrm>
            <a:off x="838200" y="2743849"/>
            <a:ext cx="10515600" cy="1095508"/>
          </a:xfrm>
        </p:spPr>
        <p:txBody>
          <a:bodyPr/>
          <a:lstStyle>
            <a:lvl1pPr algn="ctr">
              <a:defRPr/>
            </a:lvl1pPr>
          </a:lstStyle>
          <a:p>
            <a:pPr/>
            <a:r>
              <a:rPr lang="en-US" dirty="false"/>
              <a:t>Thank you!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>
  <p:cSld name="1_Custom Layou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theme" Target="../theme/theme1.xml" /><Relationship Id="rId8" Type="http://schemas.openxmlformats.org/officeDocument/2006/relationships/slideLayout" Target="../slideLayouts/slideLayout9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2" Type="http://schemas.openxmlformats.org/officeDocument/2006/relationships/slideLayout" Target="../slideLayouts/slideLayout3.xml" /><Relationship Id="rId7" Type="http://schemas.openxmlformats.org/officeDocument/2006/relationships/slideLayout" Target="../slideLayouts/slideLayout8.xml" /><Relationship Id="rId3" Type="http://schemas.openxmlformats.org/officeDocument/2006/relationships/slideLayout" Target="../slideLayouts/slideLayout4.xml" /><Relationship Id="rId4" Type="http://schemas.openxmlformats.org/officeDocument/2006/relationships/slideLayout" Target="../slideLayouts/slideLayout5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dirty="false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dirty="false"/>
              <a:t>Click to edit Master text styles</a:t>
            </a:r>
            <a:endParaRPr/>
          </a:p>
          <a:p>
            <a:pPr lvl="1"/>
            <a:r>
              <a:rPr lang="en-US" dirty="false"/>
              <a:t>Second level</a:t>
            </a:r>
            <a:endParaRPr/>
          </a:p>
          <a:p>
            <a:pPr lvl="2"/>
            <a:r>
              <a:rPr lang="en-US" dirty="false"/>
              <a:t>Third level</a:t>
            </a:r>
            <a:endParaRPr/>
          </a:p>
          <a:p>
            <a:pPr lvl="3"/>
            <a:r>
              <a:rPr lang="en-US" dirty="false"/>
              <a:t>Fourth level</a:t>
            </a:r>
            <a:endParaRPr/>
          </a:p>
          <a:p>
            <a:pPr lvl="4"/>
            <a:r>
              <a:rPr lang="en-US" dirty="false"/>
              <a:t>Fifth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  <p:txStyles>
    <p:titleStyle>
      <a:lvl1pPr algn="l" defTabSz="914400" rtl="false" eaLnBrk="true" latinLnBrk="false" hangingPunct="true">
        <a:lnSpc>
          <a:spcPct val="90000"/>
        </a:lnSpc>
        <a:spcBef>
          <a:spcPct val="1"/>
        </a:spcBef>
        <a:buNone/>
        <a:defRPr sz="4400" b="true" kern="1200">
          <a:solidFill>
            <a:srgbClr val="B6000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false" eaLnBrk="true" latinLnBrk="false" hangingPunct="true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8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>
          <a:xfrm rot="0" flipH="false" flipV="false">
            <a:off x="2505529" y="2485345"/>
            <a:ext cx="7596867" cy="2852737"/>
          </a:xfrm>
        </p:spPr>
        <p:txBody>
          <a:bodyPr>
            <a:normAutofit fontScale="100000"/>
          </a:bodyPr>
          <a:lstStyle/>
          <a:p>
            <a:pPr marL="0" lvl="0" indent="0" algn="l" defTabSz="914400">
              <a:lnSpc>
                <a:spcPct val="90000"/>
              </a:lnSpc>
              <a:spcBef>
                <a:spcPct val="1"/>
              </a:spcBef>
              <a:buNone/>
              <a:defRPr sz="4800" b="true">
                <a:solidFill>
                  <a:srgbClr val="B60007">
                    <a:alpha val="100000"/>
                  </a:srgbClr>
                </a:solidFill>
                <a:latin typeface="Arial"/>
                <a:ea typeface="黑体"/>
                <a:cs typeface="+mj-cs"/>
              </a:defRPr>
            </a:pPr>
            <a:r>
              <a:rPr lang="en-US" sz="4400" b="true" i="false" u="none" strike="noStrike">
                <a:solidFill>
                  <a:srgbClr val="B60007">
                    <a:alpha val="100000"/>
                  </a:srgbClr>
                </a:solidFill>
                <a:latin typeface="Times New Roman"/>
                <a:ea typeface="Times New Roman"/>
                <a:cs typeface="+mj-cs"/>
              </a:rPr>
              <a:t>Online Quiz System </a:t>
            </a:r>
            <a:endParaRPr lang="en-US" sz="4800" b="true">
              <a:solidFill>
                <a:srgbClr val="B60007">
                  <a:alpha val="100000"/>
                </a:srgbClr>
              </a:solidFill>
              <a:latin typeface="Arial"/>
              <a:ea typeface="黑体"/>
              <a:cs typeface="+mj-cs"/>
            </a:endParaRPr>
          </a:p>
          <a:p>
            <a:pPr marL="0" lvl="0" indent="0" algn="l" defTabSz="914400">
              <a:lnSpc>
                <a:spcPct val="90000"/>
              </a:lnSpc>
              <a:spcBef>
                <a:spcPct val="1"/>
              </a:spcBef>
              <a:buNone/>
              <a:defRPr sz="4800" b="true">
                <a:solidFill>
                  <a:srgbClr val="B60007">
                    <a:alpha val="100000"/>
                  </a:srgbClr>
                </a:solidFill>
                <a:latin typeface="Arial"/>
                <a:ea typeface="黑体"/>
                <a:cs typeface="+mj-cs"/>
              </a:defRPr>
            </a:pPr>
            <a:r>
              <a:rPr lang="en-US" sz="2800" b="true" i="false" u="none" strike="noStrike">
                <a:solidFill>
                  <a:schemeClr val="tx1">
                    <a:alpha val="100000"/>
                  </a:schemeClr>
                </a:solidFill>
                <a:latin typeface="Times New Roman"/>
                <a:ea typeface="Times New Roman"/>
                <a:cs typeface="+mj-cs"/>
              </a:rPr>
              <a:t>                                      – Design Description</a:t>
            </a:r>
            <a:r>
              <a:rPr lang="en-US" sz="4800" b="true" i="false" u="none" strike="noStrike">
                <a:solidFill>
                  <a:srgbClr val="B60007">
                    <a:alpha val="100000"/>
                  </a:srgbClr>
                </a:solidFill>
                <a:latin typeface="Times New Roman"/>
                <a:ea typeface="Times New Roman"/>
                <a:cs typeface="+mj-cs"/>
              </a:rPr>
              <a:t> </a:t>
            </a:r>
            <a:endParaRPr lang="en-US" sz="4800" b="true">
              <a:solidFill>
                <a:srgbClr val="B60007">
                  <a:alpha val="100000"/>
                </a:srgbClr>
              </a:solidFill>
              <a:latin typeface="Arial"/>
              <a:ea typeface="黑体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true"/>
          </p:cNvSpPr>
          <p:nvPr>
            <p:ph type="ctrTitle"/>
          </p:nvPr>
        </p:nvSpPr>
        <p:spPr>
          <a:xfrm rot="0" flipH="false" flipV="false">
            <a:off x="789214" y="1183595"/>
            <a:ext cx="4857750" cy="734332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sz="4800" b="true">
                <a:solidFill>
                  <a:srgbClr val="C00000">
                    <a:alpha val="100000"/>
                  </a:srgbClr>
                </a:solidFill>
                <a:latin typeface="Times New Roman"/>
                <a:ea typeface="Times New Roman"/>
              </a:rPr>
              <a:t> Finalized Topic</a:t>
            </a:r>
            <a:endParaRPr lang="en-US"/>
          </a:p>
        </p:txBody>
      </p:sp>
      <p:sp>
        <p:nvSpPr>
          <p:cNvPr id="5" name="Subtitle 2"/>
          <p:cNvSpPr>
            <a:spLocks noGrp="true"/>
          </p:cNvSpPr>
          <p:nvPr>
            <p:ph type="subTitle" idx="1"/>
          </p:nvPr>
        </p:nvSpPr>
        <p:spPr>
          <a:xfrm rot="0" flipH="false" flipV="false">
            <a:off x="911678" y="2316163"/>
            <a:ext cx="9715500" cy="3206976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sz="3200" b="true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Online Quiz System</a:t>
            </a:r>
            <a:r>
              <a:rPr sz="32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  </a:t>
            </a:r>
            <a:endParaRPr lang="en-US"/>
          </a:p>
          <a:p>
            <a:pPr>
              <a:buFont typeface="Arial" panose="020B0604020202020204" pitchFamily="34" charset="0"/>
              <a:buNone/>
            </a:pPr>
            <a:endParaRPr lang="en-US" sz="3200">
              <a:solidFill>
                <a:srgbClr val="000000">
                  <a:alpha val="100000"/>
                </a:srgbClr>
              </a:solidFill>
              <a:latin typeface="Times New Roman"/>
              <a:ea typeface="Times New Roman"/>
            </a:endParaRPr>
          </a:p>
          <a:p>
            <a:pPr>
              <a:buFont typeface="Arial" panose="020B0604020202020204" pitchFamily="34" charset="0"/>
              <a:buNone/>
            </a:pPr>
            <a:r>
              <a:rPr sz="24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A web-based application built with HTML/CSS/JavaScript (client-side) and PHP (server-side), designed to support instructors in creating, managing, and delivering quizzes while enabling students to take assessments and review results.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"/>
          <p:cNvGraphicFramePr/>
          <p:nvPr/>
        </p:nvGraphicFramePr>
        <p:xfrm rot="0" flipH="false" flipV="false">
          <a:off x="1707559" y="1776971"/>
          <a:ext cx="7323221" cy="3714750"/>
        </p:xfrm>
        <a:graphic>
          <a:graphicData uri="http://schemas.openxmlformats.org/drawingml/2006/table">
            <a:tbl>
              <a:tblPr firstRow="true" firstCol="false" lastRow="false" lastCol="false" bandRow="true" bandCol="false">
                <a:tableStyleId>{0E3FDE45-AF77-4B5C-9715-49D594BDF05E}</a:tableStyleId>
              </a:tblPr>
              <a:tblGrid>
                <a:gridCol w="3661611">
                  <a:extLst>
                    <a:ext uri="{9D8B030D-6E8A-4147-A177-3AD203B41FA5}">
                      <a16:colId val="1"/>
                    </a:ext>
                  </a:extLst>
                </a:gridCol>
                <a:gridCol w="3661611">
                  <a:extLst>
                    <a:ext uri="{9D8B030D-6E8A-4147-A177-3AD203B41FA5}">
                      <a16:colId val="2"/>
                    </a:ext>
                  </a:extLst>
                </a:gridCol>
              </a:tblGrid>
              <a:tr h="412750">
                <a:tc>
                  <a:txBody>
                    <a:bodyPr/>
                    <a:p>
                      <a:pPr algn="l"/>
                      <a:r>
                        <a:rPr sz="2000">
                          <a:solidFill>
                            <a:srgbClr val="333333">
                              <a:alpha val="100000"/>
                            </a:srgbClr>
                          </a:solidFill>
                          <a:highlight>
                            <a:srgbClr val="FFFFFF">
                              <a:alpha val="100000"/>
                            </a:srgbClr>
                          </a:highlight>
                          <a:latin typeface="'Times New Roman Regular'"/>
                          <a:ea typeface="'Times New Roman Regular'"/>
                          <a:cs typeface="+mn-cs"/>
                        </a:rPr>
                        <a:t>ID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l"/>
                      <a:r>
                        <a:rPr sz="2000">
                          <a:solidFill>
                            <a:srgbClr val="000000">
                              <a:alpha val="100000"/>
                            </a:srgbClr>
                          </a:solidFill>
                          <a:latin typeface="'Times New Roman Regular'"/>
                          <a:ea typeface="'Times New Roman Regular'"/>
                          <a:cs typeface="+mn-cs"/>
                        </a:rPr>
                        <a:t>Name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1"/>
                  </a:ext>
                </a:extLst>
              </a:tr>
              <a:tr h="412750">
                <a:tc>
                  <a:txBody>
                    <a:bodyPr/>
                    <a:p>
                      <a:pPr algn="l"/>
                      <a:r>
                        <a:rPr sz="2000">
                          <a:solidFill>
                            <a:srgbClr val="000000">
                              <a:alpha val="100000"/>
                            </a:srgbClr>
                          </a:solidFill>
                          <a:latin typeface="'Times New Roman Regular'"/>
                          <a:ea typeface="'Times New Roman Regular'"/>
                          <a:cs typeface="+mn-cs"/>
                        </a:rPr>
                        <a:t>60052196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l"/>
                      <a:r>
                        <a:rPr sz="2000">
                          <a:solidFill>
                            <a:srgbClr val="000000">
                              <a:alpha val="100000"/>
                            </a:srgbClr>
                          </a:solidFill>
                          <a:latin typeface="'Times New Roman Regular'"/>
                          <a:ea typeface="'Times New Roman Regular'"/>
                          <a:cs typeface="+mn-cs"/>
                        </a:rPr>
                        <a:t>ZHANG Yiqiu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2"/>
                  </a:ext>
                </a:extLst>
              </a:tr>
              <a:tr h="412750">
                <a:tc>
                  <a:txBody>
                    <a:bodyPr/>
                    <a:p>
                      <a:pPr algn="l"/>
                      <a:r>
                        <a:rPr sz="2000">
                          <a:solidFill>
                            <a:srgbClr val="000000">
                              <a:alpha val="100000"/>
                            </a:srgbClr>
                          </a:solidFill>
                          <a:latin typeface="'Times New Roman Regular'"/>
                          <a:ea typeface="'Times New Roman Regular'"/>
                          <a:cs typeface="+mn-cs"/>
                        </a:rPr>
                        <a:t>59992979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l"/>
                      <a:r>
                        <a:rPr sz="2000">
                          <a:solidFill>
                            <a:srgbClr val="000000">
                              <a:alpha val="100000"/>
                            </a:srgbClr>
                          </a:solidFill>
                          <a:latin typeface="'Times New Roman Regular'"/>
                          <a:ea typeface="'Times New Roman Regular'"/>
                          <a:cs typeface="+mn-cs"/>
                        </a:rPr>
                        <a:t>LI Xinjie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rgbClr val="000000">
                              <a:alpha val="100000"/>
                            </a:srgbClr>
                          </a:solidFill>
                          <a:latin typeface="'Times New Roman Regular'"/>
                          <a:ea typeface="'Times New Roman Regular'"/>
                          <a:cs typeface="+mn-cs"/>
                        </a:rPr>
                        <a:t>59833028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l"/>
                      <a:r>
                        <a:rPr lang="en-US" sz="2000">
                          <a:solidFill>
                            <a:srgbClr val="000000">
                              <a:alpha val="100000"/>
                            </a:srgbClr>
                          </a:solidFill>
                          <a:latin typeface="'Times New Roman Regular'"/>
                          <a:ea typeface="'Times New Roman Regular'"/>
                          <a:cs typeface="+mn-cs"/>
                        </a:rPr>
                        <a:t>WANG Hongping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rgbClr val="000000">
                              <a:alpha val="100000"/>
                            </a:srgbClr>
                          </a:solidFill>
                          <a:latin typeface="'Times New Roman Regular'"/>
                          <a:ea typeface="'Times New Roman Regular'"/>
                          <a:cs typeface="+mn-cs"/>
                        </a:rPr>
                        <a:t>59844290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l"/>
                      <a:r>
                        <a:rPr lang="en-US" sz="2000">
                          <a:solidFill>
                            <a:srgbClr val="000000">
                              <a:alpha val="100000"/>
                            </a:srgbClr>
                          </a:solidFill>
                          <a:latin typeface="'Times New Roman Regular'"/>
                          <a:ea typeface="'Times New Roman Regular'"/>
                          <a:cs typeface="+mn-cs"/>
                        </a:rPr>
                        <a:t>ZHANG Jinwei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5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rgbClr val="000000">
                              <a:alpha val="100000"/>
                            </a:srgbClr>
                          </a:solidFill>
                          <a:latin typeface="'Times New Roman Regular'"/>
                          <a:ea typeface="'Times New Roman Regular'"/>
                          <a:cs typeface="+mn-cs"/>
                        </a:rPr>
                        <a:t>60098451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l"/>
                      <a:r>
                        <a:rPr lang="en-US" sz="2000">
                          <a:solidFill>
                            <a:srgbClr val="000000">
                              <a:alpha val="100000"/>
                            </a:srgbClr>
                          </a:solidFill>
                          <a:latin typeface="'Times New Roman Regular'"/>
                          <a:ea typeface="'Times New Roman Regular'"/>
                          <a:cs typeface="+mn-cs"/>
                        </a:rPr>
                        <a:t>SHAO You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6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algn="l" defTabSz="914400">
                        <a:lnSpc>
                          <a:spcPct val="100000"/>
                        </a:lnSpc>
                        <a:defRPr sz="180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黑体"/>
                          <a:cs typeface="+mn-cs"/>
                        </a:defRPr>
                      </a:pPr>
                      <a:r>
                        <a:rPr lang="en-US" sz="2000">
                          <a:solidFill>
                            <a:srgbClr val="000000">
                              <a:alpha val="100000"/>
                            </a:srgbClr>
                          </a:solidFill>
                          <a:latin typeface="'Times New Roman Regular'"/>
                          <a:ea typeface="'Times New Roman Regular'"/>
                          <a:cs typeface="+mn-cs"/>
                        </a:rPr>
                        <a:t>60083369</a:t>
                      </a:r>
                      <a:endParaRPr sz="180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黑体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algn="l" defTabSz="914400">
                        <a:lnSpc>
                          <a:spcPct val="100000"/>
                        </a:lnSpc>
                        <a:defRPr sz="180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黑体"/>
                          <a:cs typeface="+mn-cs"/>
                        </a:defRPr>
                      </a:pPr>
                      <a:r>
                        <a:rPr lang="en-US" sz="2000">
                          <a:solidFill>
                            <a:srgbClr val="000000">
                              <a:alpha val="100000"/>
                            </a:srgbClr>
                          </a:solidFill>
                          <a:latin typeface="'Times New Roman Regular'"/>
                          <a:ea typeface="'Times New Roman Regular'"/>
                          <a:cs typeface="+mn-cs"/>
                        </a:rPr>
                        <a:t>LIU Chuan</a:t>
                      </a:r>
                      <a:endParaRPr sz="180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黑体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val="7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rgbClr val="000000">
                              <a:alpha val="100000"/>
                            </a:srgbClr>
                          </a:solidFill>
                          <a:latin typeface="'Times New Roman Regular'"/>
                          <a:ea typeface="'Times New Roman Regular'"/>
                          <a:cs typeface="+mn-cs"/>
                        </a:rPr>
                        <a:t>59889189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l"/>
                      <a:r>
                        <a:rPr lang="en-US" sz="2000">
                          <a:solidFill>
                            <a:srgbClr val="000000">
                              <a:alpha val="100000"/>
                            </a:srgbClr>
                          </a:solidFill>
                          <a:latin typeface="'Times New Roman Regular'"/>
                          <a:ea typeface="'Times New Roman Regular'"/>
                          <a:cs typeface="+mn-cs"/>
                        </a:rPr>
                        <a:t>HUANG Qingyang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8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rgbClr val="000000">
                              <a:alpha val="100000"/>
                            </a:srgbClr>
                          </a:solidFill>
                          <a:latin typeface="'Times New Roman Regular'"/>
                          <a:ea typeface="'Times New Roman Regular'"/>
                          <a:cs typeface="+mn-cs"/>
                        </a:rPr>
                        <a:t>60101707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l"/>
                      <a:r>
                        <a:rPr lang="en-US" sz="2000">
                          <a:solidFill>
                            <a:srgbClr val="000000">
                              <a:alpha val="100000"/>
                            </a:srgbClr>
                          </a:solidFill>
                          <a:latin typeface="'Times New Roman Regular'"/>
                          <a:ea typeface="'Times New Roman Regular'"/>
                          <a:cs typeface="+mn-cs"/>
                        </a:rPr>
                        <a:t>Li Jinming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9"/>
                  </a:ext>
                </a:extLst>
              </a:tr>
            </a:tbl>
          </a:graphicData>
        </a:graphic>
      </p:graphicFrame>
      <p:sp>
        <p:nvSpPr>
          <p:cNvPr id="8" name="Title 1"/>
          <p:cNvSpPr txBox="true">
            <a:spLocks noGrp="true"/>
          </p:cNvSpPr>
          <p:nvPr/>
        </p:nvSpPr>
        <p:spPr>
          <a:xfrm>
            <a:off x="838200" y="365125"/>
            <a:ext cx="8417312" cy="1325563"/>
          </a:xfrm>
          <a:prstGeom prst="rect">
            <a:avLst/>
          </a:prstGeom>
          <a:ln>
            <a:extLst/>
          </a:ln>
        </p:spPr>
        <p:txBody>
          <a:bodyPr vert="horz" lIns="91440" tIns="45720" rIns="91440" bIns="45720" anchor="ctr">
            <a:normAutofit fontScale="100000"/>
          </a:bodyPr>
          <a:lstStyle/>
          <a:p>
            <a:pPr algn="l" defTabSz="914400">
              <a:lnSpc>
                <a:spcPct val="90000"/>
              </a:lnSpc>
              <a:spcBef>
                <a:spcPct val="1"/>
              </a:spcBef>
              <a:buNone/>
              <a:defRPr sz="4400" b="true">
                <a:solidFill>
                  <a:srgbClr val="B60007">
                    <a:alpha val="100000"/>
                  </a:srgbClr>
                </a:solidFill>
                <a:latin typeface="Arial"/>
                <a:ea typeface="黑体"/>
                <a:cs typeface="+mj-cs"/>
              </a:defRPr>
            </a:pPr>
            <a:r>
              <a:rPr lang="en-US" sz="4000" b="true">
                <a:solidFill>
                  <a:srgbClr val="B60007">
                    <a:alpha val="100000"/>
                  </a:srgbClr>
                </a:solidFill>
                <a:latin typeface="Times New Roman"/>
                <a:ea typeface="Times New Roman"/>
              </a:rPr>
              <a:t>Team Members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title"/>
          </p:nvPr>
        </p:nvSpPr>
        <p:spPr>
          <a:xfrm rot="0" flipH="false" flipV="false">
            <a:off x="838200" y="365125"/>
            <a:ext cx="9500154" cy="1325563"/>
          </a:xfrm>
        </p:spPr>
        <p:txBody>
          <a:bodyPr>
            <a:normAutofit fontScale="100000"/>
          </a:bodyPr>
          <a:lstStyle/>
          <a:p>
            <a:pPr>
              <a:buNone/>
            </a:pPr>
            <a:r>
              <a:rPr sz="4000" b="true">
                <a:latin typeface="Times New Roman"/>
                <a:ea typeface="Times New Roman"/>
              </a:rPr>
              <a:t>Core Features List</a:t>
            </a:r>
            <a:endParaRPr lang="en-US"/>
          </a:p>
        </p:txBody>
      </p:sp>
      <p:sp>
        <p:nvSpPr>
          <p:cNvPr id="11" name="Content Placeholder 2"/>
          <p:cNvSpPr>
            <a:spLocks noGrp="true"/>
          </p:cNvSpPr>
          <p:nvPr>
            <p:ph idx="1"/>
          </p:nvPr>
        </p:nvSpPr>
        <p:spPr>
          <a:xfrm rot="0" flipH="false" flipV="false">
            <a:off x="838200" y="1421298"/>
            <a:ext cx="10515600" cy="4755664"/>
          </a:xfrm>
        </p:spPr>
        <p:txBody>
          <a:bodyPr>
            <a:noAutofit/>
          </a:bodyPr>
          <a:lstStyle/>
          <a:p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/>
                <a:ea typeface="黑体"/>
                <a:cs typeface="+mn-cs"/>
              </a:defRPr>
            </a:pPr>
            <a:endParaRPr lang="en-US" sz="2800">
              <a:solidFill>
                <a:schemeClr val="tx1">
                  <a:alpha val="100000"/>
                </a:schemeClr>
              </a:solidFill>
              <a:latin typeface="Arial"/>
              <a:ea typeface="黑体"/>
              <a:cs typeface="+mn-cs"/>
            </a:endParaRPr>
          </a:p>
          <a:p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/>
                <a:ea typeface="黑体"/>
                <a:cs typeface="+mn-cs"/>
              </a:defRPr>
            </a:pPr>
            <a:r>
              <a:rPr lang="zh-CN" sz="1700" b="true" i="false" u="none" strike="noStrike">
                <a:solidFill>
                  <a:schemeClr val="tx1">
                    <a:alpha val="100000"/>
                  </a:schemeClr>
                </a:solidFill>
                <a:latin typeface="Times New Roman"/>
                <a:ea typeface="Times New Roman"/>
              </a:rPr>
              <a:t>Question/Answer Management:</a:t>
            </a:r>
            <a:endParaRPr/>
          </a:p>
          <a:p>
            <a: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/>
                <a:ea typeface="黑体"/>
                <a:cs typeface="+mn-cs"/>
              </a:defRPr>
            </a:pPr>
            <a:r>
              <a:rPr sz="1550">
                <a:solidFill>
                  <a:schemeClr val="tx1">
                    <a:alpha val="100000"/>
                  </a:schemeClr>
                </a:solidFill>
                <a:latin typeface="Times New Roman"/>
                <a:ea typeface="Times New Roman"/>
              </a:rPr>
              <a:t>Create multiple-choice (MC) questions with shuffled options and short-answer questions.</a:t>
            </a:r>
            <a:endParaRPr sz="2800">
              <a:solidFill>
                <a:schemeClr val="tx1">
                  <a:alpha val="100000"/>
                </a:schemeClr>
              </a:solidFill>
              <a:latin typeface="Arial"/>
              <a:ea typeface="黑体"/>
              <a:cs typeface="+mn-cs"/>
            </a:endParaRPr>
          </a:p>
          <a:p>
            <a: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/>
                <a:ea typeface="黑体"/>
                <a:cs typeface="+mn-cs"/>
              </a:defRPr>
            </a:pPr>
            <a:r>
              <a:rPr sz="1550">
                <a:solidFill>
                  <a:schemeClr val="tx1">
                    <a:alpha val="100000"/>
                  </a:schemeClr>
                </a:solidFill>
                <a:latin typeface="Times New Roman"/>
                <a:ea typeface="Times New Roman"/>
              </a:rPr>
              <a:t>Edit/delete existing questions and categorize them by topic/difficulty.</a:t>
            </a:r>
            <a:endParaRPr sz="2800">
              <a:solidFill>
                <a:schemeClr val="tx1">
                  <a:alpha val="100000"/>
                </a:schemeClr>
              </a:solidFill>
              <a:latin typeface="Arial"/>
              <a:ea typeface="黑体"/>
              <a:cs typeface="+mn-cs"/>
            </a:endParaRPr>
          </a:p>
          <a:p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/>
                <a:ea typeface="黑体"/>
                <a:cs typeface="+mn-cs"/>
              </a:defRPr>
            </a:pPr>
            <a:r>
              <a:rPr lang="en-US" sz="1700" b="true" i="false" u="none" strike="noStrike">
                <a:solidFill>
                  <a:schemeClr val="tx1">
                    <a:alpha val="100000"/>
                  </a:schemeClr>
                </a:solidFill>
                <a:latin typeface="Times New Roman"/>
                <a:ea typeface="Times New Roman"/>
              </a:rPr>
              <a:t>Quiz Setup:</a:t>
            </a:r>
            <a:r>
              <a:rPr lang="en-US" sz="1700" b="true" i="false" u="none" strike="noStrike">
                <a:solidFill>
                  <a:schemeClr val="tx1">
                    <a:alpha val="100000"/>
                  </a:schemeClr>
                </a:solidFill>
                <a:latin typeface="Times New Roman"/>
                <a:ea typeface="Times New Roman"/>
              </a:rPr>
              <a:t> </a:t>
            </a:r>
            <a:endParaRPr/>
          </a:p>
          <a:p>
            <a: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/>
                <a:ea typeface="黑体"/>
                <a:cs typeface="+mn-cs"/>
              </a:defRPr>
            </a:pPr>
            <a:r>
              <a:rPr sz="1550">
                <a:solidFill>
                  <a:schemeClr val="tx1">
                    <a:alpha val="100000"/>
                  </a:schemeClr>
                </a:solidFill>
                <a:latin typeface="Times New Roman"/>
                <a:ea typeface="Times New Roman"/>
              </a:rPr>
              <a:t>Assemble quizzes by selecting questions, setting time limits, and assigning to student groups.</a:t>
            </a:r>
            <a:endParaRPr sz="2800">
              <a:solidFill>
                <a:schemeClr val="tx1">
                  <a:alpha val="100000"/>
                </a:schemeClr>
              </a:solidFill>
              <a:latin typeface="Arial"/>
              <a:ea typeface="黑体"/>
              <a:cs typeface="+mn-cs"/>
            </a:endParaRPr>
          </a:p>
          <a:p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/>
                <a:ea typeface="黑体"/>
                <a:cs typeface="+mn-cs"/>
              </a:defRPr>
            </a:pPr>
            <a:r>
              <a:rPr lang="en-US" sz="1700" b="true" i="false" u="none" strike="noStrike">
                <a:solidFill>
                  <a:schemeClr val="tx1">
                    <a:alpha val="100000"/>
                  </a:schemeClr>
                </a:solidFill>
                <a:latin typeface="Times New Roman"/>
                <a:ea typeface="Times New Roman"/>
              </a:rPr>
              <a:t>Student Group Control:</a:t>
            </a:r>
            <a:endParaRPr/>
          </a:p>
          <a:p>
            <a: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/>
                <a:ea typeface="黑体"/>
                <a:cs typeface="+mn-cs"/>
              </a:defRPr>
            </a:pPr>
            <a:r>
              <a:rPr sz="1650">
                <a:solidFill>
                  <a:schemeClr val="tx1">
                    <a:alpha val="100000"/>
                  </a:schemeClr>
                </a:solidFill>
                <a:latin typeface="Times New Roman"/>
                <a:ea typeface="Times New Roman"/>
              </a:rPr>
              <a:t>Create/modify student groups and manage access to specific quizzes.</a:t>
            </a:r>
            <a:endParaRPr sz="2800">
              <a:solidFill>
                <a:schemeClr val="tx1">
                  <a:alpha val="100000"/>
                </a:schemeClr>
              </a:solidFill>
              <a:latin typeface="Arial"/>
              <a:ea typeface="黑体"/>
              <a:cs typeface="+mn-cs"/>
            </a:endParaRPr>
          </a:p>
          <a:p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/>
                <a:ea typeface="黑体"/>
                <a:cs typeface="+mn-cs"/>
              </a:defRPr>
            </a:pPr>
            <a:r>
              <a:rPr lang="en-US" sz="1550" b="true" i="false" u="none" strike="noStrike">
                <a:solidFill>
                  <a:schemeClr val="tx1">
                    <a:alpha val="100000"/>
                  </a:schemeClr>
                </a:solidFill>
                <a:latin typeface="Times New Roman"/>
                <a:ea typeface="Times New Roman"/>
              </a:rPr>
              <a:t>Data Import/Export (CSV):</a:t>
            </a:r>
            <a:endParaRPr/>
          </a:p>
          <a:p>
            <a: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/>
                <a:ea typeface="黑体"/>
                <a:cs typeface="+mn-cs"/>
              </a:defRPr>
            </a:pPr>
            <a:r>
              <a:rPr sz="1700">
                <a:solidFill>
                  <a:schemeClr val="tx1">
                    <a:alpha val="100000"/>
                  </a:schemeClr>
                </a:solidFill>
                <a:latin typeface="Times New Roman"/>
                <a:ea typeface="Times New Roman"/>
              </a:rPr>
              <a:t>Bulk import student accounts and quiz questions via CSV files.</a:t>
            </a:r>
            <a:endParaRPr sz="2800">
              <a:solidFill>
                <a:schemeClr val="tx1">
                  <a:alpha val="100000"/>
                </a:schemeClr>
              </a:solidFill>
              <a:latin typeface="Arial"/>
              <a:ea typeface="黑体"/>
              <a:cs typeface="+mn-cs"/>
            </a:endParaRPr>
          </a:p>
          <a:p>
            <a: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/>
                <a:ea typeface="黑体"/>
                <a:cs typeface="+mn-cs"/>
              </a:defRPr>
            </a:pPr>
            <a:r>
              <a:rPr sz="1700">
                <a:solidFill>
                  <a:schemeClr val="tx1">
                    <a:alpha val="100000"/>
                  </a:schemeClr>
                </a:solidFill>
                <a:latin typeface="Times New Roman"/>
                <a:ea typeface="Times New Roman"/>
              </a:rPr>
              <a:t>Export quiz results, student scores, and question statistics to CSV for analysis.</a:t>
            </a:r>
            <a:endParaRPr sz="2800">
              <a:solidFill>
                <a:schemeClr val="tx1">
                  <a:alpha val="100000"/>
                </a:schemeClr>
              </a:solidFill>
              <a:latin typeface="Arial"/>
              <a:ea typeface="黑体"/>
              <a:cs typeface="+mn-cs"/>
            </a:endParaRPr>
          </a:p>
          <a:p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/>
                <a:ea typeface="黑体"/>
                <a:cs typeface="+mn-cs"/>
              </a:defRPr>
            </a:pPr>
            <a:r>
              <a:rPr lang="en-US" sz="1550" b="true" i="false" u="none" strike="noStrike">
                <a:solidFill>
                  <a:schemeClr val="tx1">
                    <a:alpha val="100000"/>
                  </a:schemeClr>
                </a:solidFill>
                <a:latin typeface="Times New Roman"/>
                <a:ea typeface="Times New Roman"/>
              </a:rPr>
              <a:t>Result Statistics &amp; History:</a:t>
            </a:r>
            <a:endParaRPr/>
          </a:p>
          <a:p>
            <a: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/>
                <a:ea typeface="黑体"/>
                <a:cs typeface="+mn-cs"/>
              </a:defRPr>
            </a:pPr>
            <a:r>
              <a:rPr sz="1850">
                <a:solidFill>
                  <a:schemeClr val="tx1">
                    <a:alpha val="100000"/>
                  </a:schemeClr>
                </a:solidFill>
                <a:latin typeface="Times New Roman"/>
                <a:ea typeface="Times New Roman"/>
              </a:rPr>
              <a:t>View overall quiz performance (average score, pass rate, question-wise accuracy).</a:t>
            </a:r>
            <a:endParaRPr sz="2800">
              <a:solidFill>
                <a:schemeClr val="tx1">
                  <a:alpha val="100000"/>
                </a:schemeClr>
              </a:solidFill>
              <a:latin typeface="Arial"/>
              <a:ea typeface="黑体"/>
              <a:cs typeface="+mn-cs"/>
            </a:endParaRPr>
          </a:p>
          <a:p>
            <a: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/>
                <a:ea typeface="黑体"/>
                <a:cs typeface="+mn-cs"/>
              </a:defRPr>
            </a:pPr>
            <a:r>
              <a:rPr sz="1850">
                <a:solidFill>
                  <a:schemeClr val="tx1">
                    <a:alpha val="100000"/>
                  </a:schemeClr>
                </a:solidFill>
                <a:latin typeface="Times New Roman"/>
                <a:ea typeface="Times New Roman"/>
              </a:rPr>
              <a:t>Review individual student submission history and detailed answer breakdowns.</a:t>
            </a:r>
            <a:endParaRPr sz="2800">
              <a:solidFill>
                <a:schemeClr val="tx1">
                  <a:alpha val="100000"/>
                </a:schemeClr>
              </a:solidFill>
              <a:latin typeface="Arial"/>
              <a:ea typeface="黑体"/>
              <a:cs typeface="+mn-cs"/>
            </a:endParaRPr>
          </a:p>
        </p:txBody>
      </p:sp>
      <p:sp>
        <p:nvSpPr>
          <p:cNvPr id="12" name="Content Placeholder 2"/>
          <p:cNvSpPr txBox="true">
            <a:spLocks noGrp="true"/>
          </p:cNvSpPr>
          <p:nvPr/>
        </p:nvSpPr>
        <p:spPr>
          <a:xfrm rot="0" flipH="false" flipV="false">
            <a:off x="838200" y="1421298"/>
            <a:ext cx="10515600" cy="575273"/>
          </a:xfrm>
          <a:prstGeom prst="rect">
            <a:avLst/>
          </a:prstGeom>
          <a:ln>
            <a:extLst/>
          </a:ln>
        </p:spPr>
        <p:txBody>
          <a:bodyPr vert="horz" lIns="91440" tIns="45720" rIns="91440" bIns="45720">
            <a:normAutofit fontScale="100000"/>
          </a:bodyPr>
          <a:lstStyle/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rgbClr val="000000">
                    <a:alpha val="100000"/>
                  </a:srgbClr>
                </a:solidFill>
                <a:latin typeface="Arial"/>
                <a:ea typeface="黑体"/>
                <a:cs typeface="+mn-cs"/>
              </a:defRPr>
            </a:pPr>
            <a:r>
              <a:rPr lang="en-US" sz="2400" b="true">
                <a:solidFill>
                  <a:srgbClr val="B60007">
                    <a:alpha val="100000"/>
                  </a:srgbClr>
                </a:solidFill>
                <a:latin typeface="Times New Roman"/>
                <a:ea typeface="Times New Roman"/>
              </a:rPr>
              <a:t>Instructor </a:t>
            </a:r>
            <a:r>
              <a:rPr sz="2400" b="true">
                <a:solidFill>
                  <a:srgbClr val="B60007">
                    <a:alpha val="100000"/>
                  </a:srgbClr>
                </a:solidFill>
                <a:latin typeface="Times New Roman"/>
                <a:ea typeface="Times New Roman"/>
              </a:rPr>
              <a:t> Features</a:t>
            </a:r>
            <a:endParaRPr lang="en-US" sz="2800">
              <a:solidFill>
                <a:srgbClr val="000000">
                  <a:alpha val="100000"/>
                </a:srgbClr>
              </a:solidFill>
              <a:latin typeface="Arial"/>
              <a:ea typeface="黑体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title"/>
          </p:nvPr>
        </p:nvSpPr>
        <p:spPr>
          <a:xfrm rot="0" flipH="false" flipV="false">
            <a:off x="838200" y="365125"/>
            <a:ext cx="9625097" cy="1325563"/>
          </a:xfrm>
        </p:spPr>
        <p:txBody>
          <a:bodyPr>
            <a:normAutofit fontScale="100000"/>
          </a:bodyPr>
          <a:lstStyle/>
          <a:p>
            <a:pPr>
              <a:buNone/>
            </a:pPr>
            <a:r>
              <a:rPr sz="4000" b="true">
                <a:latin typeface="Times New Roman"/>
                <a:ea typeface="Times New Roman"/>
              </a:rPr>
              <a:t>Core Features List</a:t>
            </a:r>
            <a:endParaRPr lang="en-US"/>
          </a:p>
        </p:txBody>
      </p:sp>
      <p:sp>
        <p:nvSpPr>
          <p:cNvPr id="15" name="Content Placeholder 2"/>
          <p:cNvSpPr>
            <a:spLocks noGrp="true"/>
          </p:cNvSpPr>
          <p:nvPr>
            <p:ph idx="1"/>
          </p:nvPr>
        </p:nvSpPr>
        <p:spPr>
          <a:xfrm rot="0" flipH="false" flipV="false">
            <a:off x="838200" y="1690688"/>
            <a:ext cx="10515600" cy="4351338"/>
          </a:xfrm>
        </p:spPr>
        <p:txBody>
          <a:bodyPr>
            <a:normAutofit fontScale="100000"/>
          </a:bodyPr>
          <a:lstStyle/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/>
                <a:ea typeface="黑体"/>
                <a:cs typeface="+mn-cs"/>
              </a:defRPr>
            </a:pPr>
            <a:r>
              <a:rPr lang="en-US" sz="2400" b="true">
                <a:solidFill>
                  <a:srgbClr val="B60007">
                    <a:alpha val="100000"/>
                  </a:srgbClr>
                </a:solidFill>
                <a:latin typeface="Times New Roman"/>
                <a:ea typeface="Times New Roman"/>
              </a:rPr>
              <a:t>Student</a:t>
            </a:r>
            <a:r>
              <a:rPr sz="2400" b="true">
                <a:solidFill>
                  <a:srgbClr val="B60007">
                    <a:alpha val="100000"/>
                  </a:srgbClr>
                </a:solidFill>
                <a:latin typeface="Times New Roman"/>
                <a:ea typeface="Times New Roman"/>
              </a:rPr>
              <a:t> Features</a:t>
            </a:r>
            <a:endParaRPr lang="en-US" sz="2800">
              <a:solidFill>
                <a:schemeClr val="tx1">
                  <a:alpha val="100000"/>
                </a:schemeClr>
              </a:solidFill>
              <a:latin typeface="Arial"/>
              <a:ea typeface="黑体"/>
              <a:cs typeface="+mn-cs"/>
            </a:endParaRPr>
          </a:p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/>
                <a:ea typeface="黑体"/>
                <a:cs typeface="+mn-cs"/>
              </a:defRPr>
            </a:pPr>
            <a:r>
              <a:rPr sz="1800" b="true">
                <a:latin typeface="Times New Roman"/>
                <a:ea typeface="Times New Roman"/>
              </a:rPr>
              <a:t>Quiz Taking:</a:t>
            </a:r>
            <a:endParaRPr/>
          </a:p>
          <a:p>
            <a:pPr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1800">
                <a:latin typeface="Times New Roman"/>
                <a:ea typeface="Times New Roman"/>
              </a:rPr>
              <a:t>Access assigned quizzes, with MC options shuffled for anti-cheating.</a:t>
            </a:r>
            <a:endParaRPr/>
          </a:p>
          <a:p>
            <a:pPr marL="228600" lvl="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/>
                <a:ea typeface="黑体"/>
                <a:cs typeface="+mn-cs"/>
              </a:defRPr>
            </a:pPr>
            <a:r>
              <a:rPr sz="1800">
                <a:latin typeface="Times New Roman"/>
                <a:ea typeface="Times New Roman"/>
              </a:rPr>
              <a:t>Real-time form validation (e.g., unanswered questions) via JavaScript before submission.</a:t>
            </a:r>
            <a:endParaRPr/>
          </a:p>
          <a:p>
            <a: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/>
                <a:ea typeface="黑体"/>
                <a:cs typeface="+mn-cs"/>
              </a:defRPr>
            </a:pPr>
            <a:r>
              <a:rPr sz="1800" b="true">
                <a:latin typeface="Times New Roman"/>
                <a:ea typeface="Times New Roman"/>
              </a:rPr>
              <a:t>Result Review:</a:t>
            </a:r>
            <a:endParaRPr/>
          </a:p>
          <a:p>
            <a:pPr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1800">
                <a:latin typeface="Times New Roman"/>
                <a:ea typeface="Times New Roman"/>
              </a:rPr>
              <a:t>View submitted quiz scores, correct answers, and feedback after grading.</a:t>
            </a:r>
            <a:endParaRPr/>
          </a:p>
          <a:p>
            <a:pPr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1800">
                <a:latin typeface="Times New Roman"/>
                <a:ea typeface="Times New Roman"/>
              </a:rPr>
              <a:t>Access personal quiz history to track performance over time.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2"/>
          <p:cNvSpPr>
            <a:spLocks noGrp="true"/>
          </p:cNvSpPr>
          <p:nvPr>
            <p:ph idx="1"/>
          </p:nvPr>
        </p:nvSpPr>
        <p:spPr>
          <a:xfrm rot="0" flipH="false" flipV="false">
            <a:off x="810536" y="1690688"/>
            <a:ext cx="10862548" cy="4881560"/>
          </a:xfrm>
        </p:spPr>
        <p:txBody>
          <a:bodyPr>
            <a:noAutofit/>
          </a:bodyPr>
          <a:lstStyle/>
          <a:p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/>
                <a:ea typeface="黑体"/>
                <a:cs typeface="+mn-cs"/>
              </a:defRPr>
            </a:pPr>
            <a:r>
              <a:rPr sz="2400" b="true" i="false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Login Page</a:t>
            </a:r>
            <a:endParaRPr lang="en-US" sz="2800">
              <a:solidFill>
                <a:schemeClr val="tx1">
                  <a:alpha val="100000"/>
                </a:schemeClr>
              </a:solidFill>
              <a:latin typeface="Arial"/>
              <a:ea typeface="黑体"/>
              <a:cs typeface="+mn-cs"/>
            </a:endParaRPr>
          </a:p>
          <a:p>
            <a: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/>
                <a:ea typeface="黑体"/>
                <a:cs typeface="+mn-cs"/>
              </a:defRPr>
            </a:pPr>
            <a:r>
              <a:rPr sz="1800" i="false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Simple form with username/password fields.</a:t>
            </a:r>
            <a:endParaRPr/>
          </a:p>
          <a:p>
            <a: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/>
                <a:ea typeface="黑体"/>
                <a:cs typeface="+mn-cs"/>
              </a:defRPr>
            </a:pPr>
            <a:r>
              <a:rPr sz="1800" i="false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JS validation for empty inputs and password format.</a:t>
            </a:r>
            <a:endParaRPr/>
          </a:p>
          <a:p>
            <a: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/>
                <a:ea typeface="黑体"/>
                <a:cs typeface="+mn-cs"/>
              </a:defRPr>
            </a:pPr>
            <a:r>
              <a:rPr sz="1800" i="false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Role selection (Instructor/Student) to redirect to respective dashboards.</a:t>
            </a:r>
            <a:endParaRPr/>
          </a:p>
          <a:p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/>
                <a:ea typeface="黑体"/>
                <a:cs typeface="+mn-cs"/>
              </a:defRPr>
            </a:pPr>
            <a:r>
              <a:rPr lang="zh-CN" sz="2400" b="true" i="false" u="none" strike="noStrike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Instructor Dashboard</a:t>
            </a:r>
            <a:endParaRPr sz="2800">
              <a:solidFill>
                <a:schemeClr val="tx1">
                  <a:alpha val="100000"/>
                </a:schemeClr>
              </a:solidFill>
              <a:latin typeface="Arial"/>
              <a:ea typeface="黑体"/>
              <a:cs typeface="+mn-cs"/>
            </a:endParaRPr>
          </a:p>
          <a:p>
            <a: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/>
                <a:ea typeface="黑体"/>
                <a:cs typeface="+mn-cs"/>
              </a:defRPr>
            </a:pPr>
            <a:r>
              <a:rPr sz="1800" i="false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Sidebar navigation: </a:t>
            </a:r>
            <a:r>
              <a:rPr sz="1800" b="false" i="false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Questions</a:t>
            </a:r>
            <a:r>
              <a:rPr sz="1800" b="false" i="false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, </a:t>
            </a:r>
            <a:r>
              <a:rPr sz="1800" b="false" i="false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Quizzes</a:t>
            </a:r>
            <a:r>
              <a:rPr sz="1800" b="false" i="false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, </a:t>
            </a:r>
            <a:r>
              <a:rPr sz="1800" b="false" i="false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Groups</a:t>
            </a:r>
            <a:r>
              <a:rPr sz="1800" b="false" i="false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, </a:t>
            </a:r>
            <a:r>
              <a:rPr sz="1800" b="false" i="false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Results</a:t>
            </a:r>
            <a:r>
              <a:rPr sz="1800" b="false" i="false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, </a:t>
            </a:r>
            <a:r>
              <a:rPr sz="1800" b="false" i="false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Import/Export</a:t>
            </a:r>
            <a:r>
              <a:rPr sz="1800" b="false" i="false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.</a:t>
            </a:r>
            <a:endParaRPr/>
          </a:p>
          <a:p>
            <a: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/>
                <a:ea typeface="黑体"/>
                <a:cs typeface="+mn-cs"/>
              </a:defRPr>
            </a:pPr>
            <a:r>
              <a:rPr sz="1800" i="false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Main content area:</a:t>
            </a:r>
            <a:endParaRPr/>
          </a:p>
          <a:p>
            <a: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/>
                <a:ea typeface="黑体"/>
                <a:cs typeface="+mn-cs"/>
              </a:defRPr>
            </a:pPr>
            <a:r>
              <a:rPr sz="1800" i="false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Quick stats: Total quizzes, active students, recent submissions.</a:t>
            </a:r>
            <a:endParaRPr/>
          </a:p>
          <a:p>
            <a: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/>
                <a:ea typeface="黑体"/>
                <a:cs typeface="+mn-cs"/>
              </a:defRPr>
            </a:pPr>
            <a:r>
              <a:rPr sz="1800" i="false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Action buttons: </a:t>
            </a:r>
            <a:r>
              <a:rPr sz="1800" i="false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Create New Quiz</a:t>
            </a:r>
            <a:r>
              <a:rPr sz="1800" i="false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, </a:t>
            </a:r>
            <a:r>
              <a:rPr sz="1800" i="false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Import Questions</a:t>
            </a:r>
            <a:r>
              <a:rPr sz="1800" i="false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.</a:t>
            </a:r>
            <a:endParaRPr/>
          </a:p>
          <a:p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/>
                <a:ea typeface="黑体"/>
                <a:cs typeface="+mn-cs"/>
              </a:defRPr>
            </a:pPr>
            <a:r>
              <a:rPr lang="en-US" sz="1900" i="false">
                <a:solidFill>
                  <a:srgbClr val="3370FF">
                    <a:alpha val="100000"/>
                  </a:srgbClr>
                </a:solidFill>
                <a:latin typeface="Times New Roman"/>
                <a:ea typeface="Times New Roman"/>
              </a:rPr>
              <a:t>	</a:t>
            </a:r>
            <a:endParaRPr/>
          </a:p>
        </p:txBody>
      </p:sp>
      <p:sp>
        <p:nvSpPr>
          <p:cNvPr id="18" name="Title 1"/>
          <p:cNvSpPr txBox="true">
            <a:spLocks noGrp="true"/>
          </p:cNvSpPr>
          <p:nvPr/>
        </p:nvSpPr>
        <p:spPr>
          <a:xfrm rot="0" flipH="false" flipV="false">
            <a:off x="700608" y="365125"/>
            <a:ext cx="8417312" cy="1325563"/>
          </a:xfrm>
          <a:prstGeom prst="rect">
            <a:avLst/>
          </a:prstGeom>
          <a:ln>
            <a:extLst/>
          </a:ln>
        </p:spPr>
        <p:txBody>
          <a:bodyPr vert="horz" lIns="91440" tIns="45720" rIns="91440" bIns="45720" anchor="ctr">
            <a:normAutofit fontScale="100000"/>
          </a:bodyPr>
          <a:lstStyle/>
          <a:p>
            <a:pPr algn="l" defTabSz="914400">
              <a:lnSpc>
                <a:spcPct val="90000"/>
              </a:lnSpc>
              <a:spcBef>
                <a:spcPct val="1"/>
              </a:spcBef>
              <a:buNone/>
              <a:defRPr sz="4400" b="true">
                <a:solidFill>
                  <a:srgbClr val="B60007">
                    <a:alpha val="100000"/>
                  </a:srgbClr>
                </a:solidFill>
                <a:latin typeface="Arial"/>
                <a:ea typeface="黑体"/>
                <a:cs typeface="+mj-cs"/>
              </a:defRPr>
            </a:pPr>
            <a:r>
              <a:rPr lang="en-US" sz="4000" b="true">
                <a:solidFill>
                  <a:srgbClr val="B60007">
                    <a:alpha val="100000"/>
                  </a:srgbClr>
                </a:solidFill>
                <a:latin typeface="Times New Roman"/>
                <a:ea typeface="Times New Roman"/>
              </a:rPr>
              <a:t>Interface Draft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 txBox="true">
            <a:spLocks noGrp="true"/>
          </p:cNvSpPr>
          <p:nvPr/>
        </p:nvSpPr>
        <p:spPr>
          <a:xfrm rot="0" flipH="false" flipV="false">
            <a:off x="700608" y="1588050"/>
            <a:ext cx="11678974" cy="5086123"/>
          </a:xfrm>
          <a:prstGeom prst="rect">
            <a:avLst/>
          </a:prstGeom>
          <a:ln>
            <a:extLst/>
          </a:ln>
        </p:spPr>
        <p:txBody>
          <a:bodyPr vert="horz" lIns="91440" tIns="45720" rIns="91440" bIns="45720">
            <a:noAutofit/>
          </a:bodyPr>
          <a:lstStyle/>
          <a:p>
            <a:pPr lvl="0" indent="0" algn="l" defTabSz="914400">
              <a:lnSpc>
                <a:spcPct val="90000"/>
              </a:lnSpc>
              <a:buNone/>
              <a:defRPr sz="2800">
                <a:solidFill>
                  <a:schemeClr val="tx1">
                    <a:alpha val="100000"/>
                  </a:schemeClr>
                </a:solidFill>
                <a:latin typeface="Arial"/>
                <a:ea typeface="黑体"/>
                <a:cs typeface="+mn-cs"/>
              </a:defRPr>
            </a:pPr>
            <a:r>
              <a:rPr lang="zh-CN" sz="2400" b="true" i="false" u="none" strike="noStrike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Quiz Creation Interface</a:t>
            </a:r>
            <a:endParaRPr sz="2800">
              <a:solidFill>
                <a:schemeClr val="tx1">
                  <a:alpha val="100000"/>
                </a:schemeClr>
              </a:solidFill>
              <a:latin typeface="Arial"/>
              <a:ea typeface="黑体"/>
              <a:cs typeface="+mn-cs"/>
            </a:endParaRPr>
          </a:p>
          <a:p>
            <a: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/>
                <a:ea typeface="黑体"/>
                <a:cs typeface="+mn-cs"/>
              </a:defRPr>
            </a:pPr>
            <a:r>
              <a:rPr sz="16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S</a:t>
            </a:r>
            <a:r>
              <a:rPr lang="zh-CN" sz="2000" b="false" i="false" u="none" strike="noStrike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tep 1: Name quiz, set time limit, select target student group.</a:t>
            </a:r>
            <a:endParaRPr/>
          </a:p>
          <a:p>
            <a: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/>
                <a:ea typeface="黑体"/>
                <a:cs typeface="+mn-cs"/>
              </a:defRPr>
            </a:pPr>
            <a:r>
              <a:rPr lang="zh-CN" sz="1800" b="false" i="false" u="none" strike="noStrike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step 2: Add questions (filter by topic/difficulty) and preview shuffled MC options.</a:t>
            </a:r>
            <a:endParaRPr/>
          </a:p>
          <a:p>
            <a: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Arial"/>
                <a:ea typeface="黑体"/>
                <a:cs typeface="+mn-cs"/>
              </a:defRPr>
            </a:pPr>
            <a:r>
              <a:rPr lang="zh-CN" sz="1800" b="false" i="false" u="none" strike="noStrike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S</a:t>
            </a:r>
            <a:r>
              <a:rPr lang="zh-CN" sz="1800" b="false" i="false" u="none" strike="noStrike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tep 3: Publish quiz to make it accessible to students.</a:t>
            </a:r>
            <a:endParaRPr/>
          </a:p>
          <a:p>
            <a:pPr lvl="0" indent="0" algn="l" defTabSz="914400">
              <a:lnSpc>
                <a:spcPct val="100000"/>
              </a:lnSpc>
              <a:spcBef>
                <a:spcPts val="1000"/>
              </a:spcBef>
              <a:buNone/>
              <a:defRPr sz="1800">
                <a:solidFill>
                  <a:schemeClr val="tx1">
                    <a:alpha val="100000"/>
                  </a:schemeClr>
                </a:solidFill>
                <a:latin typeface="Arial"/>
                <a:ea typeface="黑体"/>
                <a:cs typeface="+mn-cs"/>
              </a:defRPr>
            </a:pPr>
            <a:r>
              <a:rPr lang="zh-CN" sz="2400" b="true" i="false" u="none" strike="noStrike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Student Quiz Interface</a:t>
            </a:r>
            <a:endParaRPr/>
          </a:p>
          <a:p>
            <a: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000000">
                    <a:alpha val="100000"/>
                  </a:srgbClr>
                </a:solidFill>
                <a:latin typeface="Arial"/>
                <a:ea typeface="黑体"/>
                <a:cs typeface="+mn-cs"/>
              </a:defRPr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Clean layout with question number, question text, and answer options (shuffled for MC).</a:t>
            </a:r>
            <a:endParaRPr/>
          </a:p>
          <a:p>
            <a: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000000">
                    <a:alpha val="100000"/>
                  </a:srgbClr>
                </a:solidFill>
                <a:latin typeface="Arial"/>
                <a:ea typeface="黑体"/>
                <a:cs typeface="+mn-cs"/>
              </a:defRPr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Timer display and "Submit" button (JS-enabled to prevent early submission or missing answers).</a:t>
            </a:r>
            <a:endParaRPr/>
          </a:p>
          <a:p>
            <a: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000000">
                    <a:alpha val="100000"/>
                  </a:srgbClr>
                </a:solidFill>
                <a:latin typeface="Arial"/>
                <a:ea typeface="黑体"/>
                <a:cs typeface="+mn-cs"/>
              </a:defRPr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Post-submission: Immediate score display (for auto-graded MC) and link to full results.</a:t>
            </a:r>
            <a:endParaRPr/>
          </a:p>
          <a:p>
            <a:pPr lvl="0" indent="0" algn="l" defTabSz="914400">
              <a:lnSpc>
                <a:spcPct val="90000"/>
              </a:lnSpc>
              <a:spcBef>
                <a:spcPts val="1000"/>
              </a:spcBef>
              <a:buNone/>
              <a:defRPr sz="2800">
                <a:solidFill>
                  <a:srgbClr val="000000">
                    <a:alpha val="100000"/>
                  </a:srgbClr>
                </a:solidFill>
                <a:latin typeface="Arial"/>
                <a:ea typeface="黑体"/>
                <a:cs typeface="+mn-cs"/>
              </a:defRPr>
            </a:pPr>
            <a:r>
              <a:rPr lang="zh-CN" sz="2400" b="true" i="false" u="none" strike="noStrike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Results &amp; Statistics Page</a:t>
            </a:r>
            <a:endParaRPr sz="2800">
              <a:solidFill>
                <a:srgbClr val="000000">
                  <a:alpha val="100000"/>
                </a:srgbClr>
              </a:solidFill>
              <a:latin typeface="Arial"/>
              <a:ea typeface="黑体"/>
              <a:cs typeface="+mn-cs"/>
            </a:endParaRPr>
          </a:p>
          <a:p>
            <a: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000000">
                    <a:alpha val="100000"/>
                  </a:srgbClr>
                </a:solidFill>
                <a:latin typeface="Arial"/>
                <a:ea typeface="黑体"/>
                <a:cs typeface="+mn-cs"/>
              </a:defRPr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Instructor view: Bar chart of class scores, question-wise accuracy, and CSV export button.</a:t>
            </a:r>
            <a:endParaRPr/>
          </a:p>
          <a:p>
            <a: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000000">
                    <a:alpha val="100000"/>
                  </a:srgbClr>
                </a:solidFill>
                <a:latin typeface="Arial"/>
                <a:ea typeface="黑体"/>
                <a:cs typeface="+mn-cs"/>
              </a:defRPr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Student view: Personal score breakdown, correct/incorrect answers highlighted, and quiz history list.</a:t>
            </a:r>
            <a:r>
              <a:rPr lang="en-US" sz="1900">
                <a:solidFill>
                  <a:srgbClr val="3370FF">
                    <a:alpha val="100000"/>
                  </a:srgbClr>
                </a:solidFill>
                <a:latin typeface="Times New Roman"/>
                <a:ea typeface="Times New Roman"/>
              </a:rPr>
              <a:t>	</a:t>
            </a:r>
            <a:endParaRPr/>
          </a:p>
        </p:txBody>
      </p:sp>
      <p:sp>
        <p:nvSpPr>
          <p:cNvPr id="21" name="Title 1"/>
          <p:cNvSpPr txBox="true">
            <a:spLocks noGrp="true"/>
          </p:cNvSpPr>
          <p:nvPr/>
        </p:nvSpPr>
        <p:spPr>
          <a:xfrm rot="0" flipH="false" flipV="false">
            <a:off x="700608" y="365125"/>
            <a:ext cx="8417312" cy="1325563"/>
          </a:xfrm>
          <a:prstGeom prst="rect">
            <a:avLst/>
          </a:prstGeom>
          <a:ln>
            <a:extLst/>
          </a:ln>
        </p:spPr>
        <p:txBody>
          <a:bodyPr vert="horz" lIns="91440" tIns="45720" rIns="91440" bIns="45720" anchor="ctr">
            <a:normAutofit fontScale="100000"/>
          </a:bodyPr>
          <a:lstStyle/>
          <a:p>
            <a:pPr algn="l" defTabSz="914400">
              <a:lnSpc>
                <a:spcPct val="90000"/>
              </a:lnSpc>
              <a:spcBef>
                <a:spcPct val="1"/>
              </a:spcBef>
              <a:buNone/>
              <a:defRPr sz="4400" b="true">
                <a:solidFill>
                  <a:srgbClr val="B60007">
                    <a:alpha val="100000"/>
                  </a:srgbClr>
                </a:solidFill>
                <a:latin typeface="Arial"/>
                <a:ea typeface="黑体"/>
                <a:cs typeface="+mj-cs"/>
              </a:defRPr>
            </a:pPr>
            <a:r>
              <a:rPr lang="en-US" sz="4000" b="true">
                <a:solidFill>
                  <a:srgbClr val="B60007">
                    <a:alpha val="100000"/>
                  </a:srgbClr>
                </a:solidFill>
                <a:latin typeface="Times New Roman"/>
                <a:ea typeface="Times New Roman"/>
              </a:rPr>
              <a:t>Interface Draft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/>
          <p:cNvSpPr>
            <a:spLocks noGrp="true"/>
          </p:cNvSpPr>
          <p:nvPr>
            <p:ph type="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en-US">
                <a:latin typeface="Times New Roman"/>
                <a:ea typeface="Times New Roman"/>
              </a:rPr>
              <a:t>Thank you!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2026-03-11T14:47:07Z</dcterms:created>
  <dcterms:modified xsi:type="dcterms:W3CDTF">2026-03-11T14:47:07Z</dcterms:modified>
</cp:coreProperties>
</file>